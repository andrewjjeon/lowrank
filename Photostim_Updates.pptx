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2" r:id="rId2"/>
  </p:sldMasterIdLst>
  <p:sldIdLst>
    <p:sldId id="259" r:id="rId3"/>
    <p:sldId id="278" r:id="rId4"/>
    <p:sldId id="260" r:id="rId5"/>
    <p:sldId id="261" r:id="rId6"/>
    <p:sldId id="285" r:id="rId7"/>
    <p:sldId id="262" r:id="rId8"/>
    <p:sldId id="267" r:id="rId9"/>
    <p:sldId id="263" r:id="rId10"/>
    <p:sldId id="264" r:id="rId11"/>
    <p:sldId id="265" r:id="rId12"/>
    <p:sldId id="269" r:id="rId13"/>
    <p:sldId id="266" r:id="rId14"/>
    <p:sldId id="268" r:id="rId15"/>
    <p:sldId id="270" r:id="rId16"/>
    <p:sldId id="271" r:id="rId17"/>
    <p:sldId id="272" r:id="rId18"/>
    <p:sldId id="273" r:id="rId19"/>
    <p:sldId id="277" r:id="rId20"/>
    <p:sldId id="279" r:id="rId21"/>
    <p:sldId id="280" r:id="rId22"/>
    <p:sldId id="276" r:id="rId23"/>
    <p:sldId id="275" r:id="rId24"/>
    <p:sldId id="282" r:id="rId25"/>
    <p:sldId id="281" r:id="rId26"/>
    <p:sldId id="274" r:id="rId27"/>
    <p:sldId id="283" r:id="rId28"/>
    <p:sldId id="284" r:id="rId29"/>
    <p:sldId id="286" r:id="rId30"/>
    <p:sldId id="287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8">
          <p15:clr>
            <a:srgbClr val="A4A3A4"/>
          </p15:clr>
        </p15:guide>
        <p15:guide id="2" pos="4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B2E83"/>
    <a:srgbClr val="E8D3A2"/>
    <a:srgbClr val="E8E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1" autoAdjust="0"/>
    <p:restoredTop sz="94682"/>
  </p:normalViewPr>
  <p:slideViewPr>
    <p:cSldViewPr snapToGrid="0" snapToObjects="1" showGuides="1">
      <p:cViewPr varScale="1">
        <p:scale>
          <a:sx n="136" d="100"/>
          <a:sy n="136" d="100"/>
        </p:scale>
        <p:origin x="648" y="372"/>
      </p:cViewPr>
      <p:guideLst>
        <p:guide orient="horz" pos="2488"/>
        <p:guide pos="4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W_W Logo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15" y="5945854"/>
            <a:ext cx="1371600" cy="9235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7334" y="6354234"/>
            <a:ext cx="2540000" cy="266700"/>
          </a:xfrm>
          <a:prstGeom prst="rect">
            <a:avLst/>
          </a:prstGeom>
        </p:spPr>
      </p:pic>
      <p:pic>
        <p:nvPicPr>
          <p:cNvPr id="2" name="Picture 1" descr="Bar_RtAngle_7502_RGB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87" y="4006085"/>
            <a:ext cx="2284303" cy="11277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71757" y="1179824"/>
            <a:ext cx="6972300" cy="2641756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</p:spTree>
    <p:extLst>
      <p:ext uri="{BB962C8B-B14F-4D97-AF65-F5344CB8AC3E}">
        <p14:creationId xmlns:p14="http://schemas.microsoft.com/office/powerpoint/2010/main" val="2373491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2320239"/>
            <a:ext cx="8197114" cy="3810086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FFFFFF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FFFFFF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FFFFFF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FFFFFF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FFFFFF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71757" y="1730667"/>
            <a:ext cx="8184662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0" i="0" baseline="0">
                <a:solidFill>
                  <a:srgbClr val="FFFFFF"/>
                </a:solidFill>
                <a:latin typeface="Uni Sans Regular"/>
                <a:cs typeface="Uni Sans Regular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	, 24 PT.)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48401" y="6354234"/>
            <a:ext cx="2540000" cy="266700"/>
          </a:xfrm>
          <a:prstGeom prst="rect">
            <a:avLst/>
          </a:prstGeom>
        </p:spPr>
      </p:pic>
      <p:pic>
        <p:nvPicPr>
          <p:cNvPr id="8" name="Picture 7" descr="Bar_RtAngle_7502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7" y="365069"/>
            <a:ext cx="8184662" cy="998440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276924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W_W Logo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15" y="5945854"/>
            <a:ext cx="1371600" cy="923544"/>
          </a:xfrm>
          <a:prstGeom prst="rect">
            <a:avLst/>
          </a:prstGeom>
        </p:spPr>
      </p:pic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1736725"/>
            <a:ext cx="8076956" cy="4015497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FFFFFF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FFFFFF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FFFFFF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FFFFFF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FFFFFF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Bulleted content here (Open Sans Light, 24 pt.)</a:t>
            </a:r>
          </a:p>
          <a:p>
            <a:pPr lvl="1"/>
            <a:r>
              <a:rPr lang="en-US" dirty="0"/>
              <a:t>Second level (Open Sans Light, 20)</a:t>
            </a:r>
          </a:p>
          <a:p>
            <a:pPr lvl="2"/>
            <a:r>
              <a:rPr lang="en-US" dirty="0"/>
              <a:t>Third level (Open Sans Light, 18)</a:t>
            </a:r>
          </a:p>
          <a:p>
            <a:pPr lvl="3"/>
            <a:r>
              <a:rPr lang="en-US" dirty="0"/>
              <a:t>Fourth level (Open Sans Light, 16)</a:t>
            </a:r>
          </a:p>
          <a:p>
            <a:pPr lvl="4"/>
            <a:r>
              <a:rPr lang="en-US" dirty="0"/>
              <a:t>Fifth level (Open Sans Light, 14)</a:t>
            </a:r>
          </a:p>
        </p:txBody>
      </p:sp>
      <p:pic>
        <p:nvPicPr>
          <p:cNvPr id="8" name="Picture 7" descr="Bar_RtAngle_7502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064505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3236337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48401" y="6354234"/>
            <a:ext cx="2540000" cy="266700"/>
          </a:xfrm>
          <a:prstGeom prst="rect">
            <a:avLst/>
          </a:prstGeom>
        </p:spPr>
      </p:pic>
      <p:sp>
        <p:nvSpPr>
          <p:cNvPr id="12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766763" y="1736725"/>
            <a:ext cx="8021637" cy="44323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8" name="Picture 7" descr="Bar_RtAngle_7502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16644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3828560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 Logo_Purple_2685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139" y="5949410"/>
            <a:ext cx="1371600" cy="923544"/>
          </a:xfrm>
          <a:prstGeom prst="rect">
            <a:avLst/>
          </a:prstGeom>
        </p:spPr>
      </p:pic>
      <p:pic>
        <p:nvPicPr>
          <p:cNvPr id="9" name="Picture 8" descr="Wordmark_center_Purple_HEX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9" y="6487457"/>
            <a:ext cx="2425295" cy="163374"/>
          </a:xfrm>
          <a:prstGeom prst="rect">
            <a:avLst/>
          </a:prstGeom>
        </p:spPr>
      </p:pic>
      <p:pic>
        <p:nvPicPr>
          <p:cNvPr id="6" name="Picture 5" descr="Bar_RtAngle_7502_RGB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87" y="4006085"/>
            <a:ext cx="2284303" cy="11277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71757" y="1167124"/>
            <a:ext cx="6972300" cy="2641756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solidFill>
                  <a:srgbClr val="4B2E83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</p:spTree>
    <p:extLst>
      <p:ext uri="{BB962C8B-B14F-4D97-AF65-F5344CB8AC3E}">
        <p14:creationId xmlns:p14="http://schemas.microsoft.com/office/powerpoint/2010/main" val="3397191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2320239"/>
            <a:ext cx="8197114" cy="3810086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4B2E83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4B2E83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4B2E83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4B2E83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4B2E83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71757" y="1730667"/>
            <a:ext cx="8184662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0" i="0" baseline="0">
                <a:solidFill>
                  <a:srgbClr val="4B2E83"/>
                </a:solidFill>
                <a:latin typeface="Uni Sans Regular"/>
                <a:cs typeface="Uni Sans Regular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LIGHT, 24 PT.)</a:t>
            </a:r>
          </a:p>
        </p:txBody>
      </p:sp>
      <p:pic>
        <p:nvPicPr>
          <p:cNvPr id="9" name="Picture 8" descr="Wordmark_center_Purple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155" y="6487457"/>
            <a:ext cx="2425295" cy="163374"/>
          </a:xfrm>
          <a:prstGeom prst="rect">
            <a:avLst/>
          </a:prstGeom>
        </p:spPr>
      </p:pic>
      <p:pic>
        <p:nvPicPr>
          <p:cNvPr id="8" name="Picture 7" descr="Bar_RtAngle_7502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84663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rgbClr val="4B2E83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307287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1736725"/>
            <a:ext cx="8196210" cy="4015497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4B2E83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4B2E83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4B2E83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4B2E83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4B2E83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9" name="Picture 8" descr="W Logo_Purple_2685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139" y="5949410"/>
            <a:ext cx="1371600" cy="923544"/>
          </a:xfrm>
          <a:prstGeom prst="rect">
            <a:avLst/>
          </a:prstGeom>
        </p:spPr>
      </p:pic>
      <p:pic>
        <p:nvPicPr>
          <p:cNvPr id="7" name="Picture 6" descr="Bar_RtAngle_7502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83759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145022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766763" y="1736725"/>
            <a:ext cx="8021637" cy="44323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rgbClr val="999999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7" name="Picture 6" descr="Wordmark_center_Purple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105" y="6487457"/>
            <a:ext cx="2425295" cy="163374"/>
          </a:xfrm>
          <a:prstGeom prst="rect">
            <a:avLst/>
          </a:prstGeom>
        </p:spPr>
      </p:pic>
      <p:pic>
        <p:nvPicPr>
          <p:cNvPr id="6" name="Picture 5" descr="Bar_RtAngle_7502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16644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248955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W_W Logo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15" y="5945854"/>
            <a:ext cx="1371600" cy="9235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7334" y="6354234"/>
            <a:ext cx="2540000" cy="266700"/>
          </a:xfrm>
          <a:prstGeom prst="rect">
            <a:avLst/>
          </a:prstGeom>
        </p:spPr>
      </p:pic>
      <p:pic>
        <p:nvPicPr>
          <p:cNvPr id="2" name="Picture 1" descr="Bar_RtAngle_7502_RGB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87" y="4006085"/>
            <a:ext cx="2284303" cy="11277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71757" y="1179824"/>
            <a:ext cx="6972300" cy="2641756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</p:spTree>
    <p:extLst>
      <p:ext uri="{BB962C8B-B14F-4D97-AF65-F5344CB8AC3E}">
        <p14:creationId xmlns:p14="http://schemas.microsoft.com/office/powerpoint/2010/main" val="1583293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7030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86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SNAIL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Photostim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Project Update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8/20/24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1CDAA9-F86C-8848-C832-4245468DA874}"/>
              </a:ext>
            </a:extLst>
          </p:cNvPr>
          <p:cNvSpPr txBox="1"/>
          <p:nvPr/>
        </p:nvSpPr>
        <p:spPr>
          <a:xfrm>
            <a:off x="3249637" y="3821580"/>
            <a:ext cx="215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Andrew Jeon</a:t>
            </a:r>
          </a:p>
        </p:txBody>
      </p:sp>
    </p:spTree>
    <p:extLst>
      <p:ext uri="{BB962C8B-B14F-4D97-AF65-F5344CB8AC3E}">
        <p14:creationId xmlns:p14="http://schemas.microsoft.com/office/powerpoint/2010/main" val="191347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0AB427-34B0-BE3F-0554-5C5823E46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22" y="1536427"/>
            <a:ext cx="6135287" cy="494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09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6680F094-1C65-B8AE-EBCF-F42A3BBF7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278" y="1343532"/>
            <a:ext cx="5321808" cy="35818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FE29E8B-F514-B761-00D8-2931E7AC0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48" y="541874"/>
            <a:ext cx="8360411" cy="438351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02C2964-FC23-360F-BDD1-6B2E2DB0E04B}"/>
              </a:ext>
            </a:extLst>
          </p:cNvPr>
          <p:cNvSpPr txBox="1"/>
          <p:nvPr/>
        </p:nvSpPr>
        <p:spPr>
          <a:xfrm>
            <a:off x="251356" y="321826"/>
            <a:ext cx="8083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Closed-Form vs Full Rank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4D09B-61F6-6CC6-6D29-458AF9CF1ACC}"/>
              </a:ext>
            </a:extLst>
          </p:cNvPr>
          <p:cNvSpPr txBox="1"/>
          <p:nvPr/>
        </p:nvSpPr>
        <p:spPr>
          <a:xfrm>
            <a:off x="562914" y="1644580"/>
            <a:ext cx="2646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Full Rank lambda 0 MSE: 0.000322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Closed-Form           MSE: 0.000220</a:t>
            </a:r>
          </a:p>
        </p:txBody>
      </p:sp>
    </p:spTree>
    <p:extLst>
      <p:ext uri="{BB962C8B-B14F-4D97-AF65-F5344CB8AC3E}">
        <p14:creationId xmlns:p14="http://schemas.microsoft.com/office/powerpoint/2010/main" val="289097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3A5D19-C1B6-63A6-0BAF-589F101CBC4F}"/>
              </a:ext>
            </a:extLst>
          </p:cNvPr>
          <p:cNvSpPr txBox="1"/>
          <p:nvPr/>
        </p:nvSpPr>
        <p:spPr>
          <a:xfrm>
            <a:off x="1115436" y="4757402"/>
            <a:ext cx="34565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Closed-Form                MSE: 0.000220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Full Rank lambda 0      MSE: 0.000322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Full Rank lambda 1e-7 MSE: 0.000504</a:t>
            </a:r>
          </a:p>
          <a:p>
            <a:r>
              <a:rPr lang="en-US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Full Rank lambda 1e-6 MSE: 0.000264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Full Rank lambda 1e-5 MSE: 0.000268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Full Rank lambda 1e-4 MSE: 0.000395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Full Rank lambda 1e-3 MSE: 49646.786335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28A7CC-0461-A871-A769-19C25B1E5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55" y="921402"/>
            <a:ext cx="7235097" cy="3836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4ECDA9-6247-3108-52B6-EB44AAB0F258}"/>
              </a:ext>
            </a:extLst>
          </p:cNvPr>
          <p:cNvSpPr txBox="1"/>
          <p:nvPr/>
        </p:nvSpPr>
        <p:spPr>
          <a:xfrm>
            <a:off x="251356" y="321826"/>
            <a:ext cx="8083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Full Rank Bias-Variance U Curve</a:t>
            </a:r>
          </a:p>
        </p:txBody>
      </p:sp>
    </p:spTree>
    <p:extLst>
      <p:ext uri="{BB962C8B-B14F-4D97-AF65-F5344CB8AC3E}">
        <p14:creationId xmlns:p14="http://schemas.microsoft.com/office/powerpoint/2010/main" val="806865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3888A3-B2FC-0645-B6E1-26C47F4AC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8" y="422788"/>
            <a:ext cx="8736863" cy="458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1480E3-B24E-328C-0535-1099B2BD5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93" y="1625404"/>
            <a:ext cx="7796747" cy="40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43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7A0210-E39A-F900-3D9B-A51437E64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28" y="537491"/>
            <a:ext cx="6799294" cy="35661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3690C2-E723-4486-B7DE-15FF72FD2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404801"/>
            <a:ext cx="6663690" cy="348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50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610D23-1944-B2D0-6412-6DC0445BE5FE}"/>
              </a:ext>
            </a:extLst>
          </p:cNvPr>
          <p:cNvSpPr txBox="1"/>
          <p:nvPr/>
        </p:nvSpPr>
        <p:spPr>
          <a:xfrm>
            <a:off x="281758" y="320735"/>
            <a:ext cx="5744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Low Rank 35 Bias-Variance U Curve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8F192-137B-5E03-66AB-E8D123906400}"/>
              </a:ext>
            </a:extLst>
          </p:cNvPr>
          <p:cNvSpPr txBox="1"/>
          <p:nvPr/>
        </p:nvSpPr>
        <p:spPr>
          <a:xfrm>
            <a:off x="1115436" y="4757402"/>
            <a:ext cx="36394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Low Rank 35 lambda 0      MSE: 0.000552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Low Rank 35 lambda 1e-7 MSE: 0.000343</a:t>
            </a:r>
          </a:p>
          <a:p>
            <a:r>
              <a:rPr lang="en-US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Low Rank 35 lambda 1e-6 MSE: 0.000241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Low Rank 35 lambda 1e-5 MSE: 0.000266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Low Rank 35 lambda 1e-4 MSE: 316036.828274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Low Rank 35 lambda 1e-3 MSE: 268641.949597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94ADA2-6D8B-6B97-172B-CBA13A128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38263"/>
            <a:ext cx="6552079" cy="347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662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CF9DB0-0C13-FB4C-1B37-D03AE33C6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264461"/>
            <a:ext cx="6346469" cy="32376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8554F3-89FB-B685-92A2-7DC8735E5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3502152"/>
            <a:ext cx="5925312" cy="324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09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8F2095-D79A-322F-8B44-720C8024B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603" y="466825"/>
            <a:ext cx="5840728" cy="3179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0B17A4-5F42-8AB0-B953-17FA74177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1" y="3646696"/>
            <a:ext cx="5840729" cy="31798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096EDC-8E60-83DD-6548-5D3069F677C7}"/>
              </a:ext>
            </a:extLst>
          </p:cNvPr>
          <p:cNvSpPr txBox="1"/>
          <p:nvPr/>
        </p:nvSpPr>
        <p:spPr>
          <a:xfrm>
            <a:off x="281758" y="320735"/>
            <a:ext cx="5744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TPR/FPR Full Rank vs Low Rank</a:t>
            </a:r>
          </a:p>
        </p:txBody>
      </p:sp>
    </p:spTree>
    <p:extLst>
      <p:ext uri="{BB962C8B-B14F-4D97-AF65-F5344CB8AC3E}">
        <p14:creationId xmlns:p14="http://schemas.microsoft.com/office/powerpoint/2010/main" val="335937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096EDC-8E60-83DD-6548-5D3069F677C7}"/>
              </a:ext>
            </a:extLst>
          </p:cNvPr>
          <p:cNvSpPr txBox="1"/>
          <p:nvPr/>
        </p:nvSpPr>
        <p:spPr>
          <a:xfrm>
            <a:off x="281758" y="320735"/>
            <a:ext cx="5744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AUROC for Full Rank and Low Rank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D1F5DD-8A4A-6E06-69A5-38A515515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83" y="801398"/>
            <a:ext cx="5436273" cy="2931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C153EA-9794-51D2-C5AF-931C57C7B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64" y="3733246"/>
            <a:ext cx="5744137" cy="3124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4C41D2-1298-8DB3-A80B-1BD093556556}"/>
              </a:ext>
            </a:extLst>
          </p:cNvPr>
          <p:cNvSpPr txBox="1"/>
          <p:nvPr/>
        </p:nvSpPr>
        <p:spPr>
          <a:xfrm>
            <a:off x="5802976" y="977768"/>
            <a:ext cx="3422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Lambdas = 0, 1e-5, 1e-6, 1e-7</a:t>
            </a:r>
          </a:p>
          <a:p>
            <a:r>
              <a:rPr lang="en-US" sz="1200" dirty="0">
                <a:solidFill>
                  <a:srgbClr val="000000"/>
                </a:solidFill>
              </a:rPr>
              <a:t>AUROC low rank 35 = 0.765, 0.722, 0.791, 0.777 AUROC full rank = 0.717, 0.736, 0.775, 0.722</a:t>
            </a:r>
          </a:p>
          <a:p>
            <a:endParaRPr lang="en-US" sz="1200" dirty="0">
              <a:solidFill>
                <a:srgbClr val="000000"/>
              </a:solidFill>
            </a:endParaRPr>
          </a:p>
          <a:p>
            <a:r>
              <a:rPr lang="en-US" sz="1200" dirty="0">
                <a:solidFill>
                  <a:srgbClr val="000000"/>
                </a:solidFill>
              </a:rPr>
              <a:t>AUROC_noninput low rank 35 = 0.644, 0.607, 0.663, 0.649 </a:t>
            </a:r>
          </a:p>
          <a:p>
            <a:r>
              <a:rPr lang="en-US" sz="1200" dirty="0">
                <a:solidFill>
                  <a:srgbClr val="000000"/>
                </a:solidFill>
              </a:rPr>
              <a:t>AUROC_noninput full rank = 0.611, 0.621, 0.648, 0.619</a:t>
            </a:r>
          </a:p>
        </p:txBody>
      </p:sp>
    </p:spTree>
    <p:extLst>
      <p:ext uri="{BB962C8B-B14F-4D97-AF65-F5344CB8AC3E}">
        <p14:creationId xmlns:p14="http://schemas.microsoft.com/office/powerpoint/2010/main" val="586623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89D14C-14AD-7133-944C-7EDF3ACD9994}"/>
              </a:ext>
            </a:extLst>
          </p:cNvPr>
          <p:cNvSpPr txBox="1"/>
          <p:nvPr/>
        </p:nvSpPr>
        <p:spPr>
          <a:xfrm>
            <a:off x="281758" y="320735"/>
            <a:ext cx="5744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Neuron Sensitivity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C56F3-815F-0098-DF49-3610A3D3A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782400"/>
            <a:ext cx="5980176" cy="29649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B93AAF-7D16-279C-4805-003941F72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877056"/>
            <a:ext cx="5980176" cy="296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4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89D14C-14AD-7133-944C-7EDF3ACD9994}"/>
              </a:ext>
            </a:extLst>
          </p:cNvPr>
          <p:cNvSpPr txBox="1"/>
          <p:nvPr/>
        </p:nvSpPr>
        <p:spPr>
          <a:xfrm>
            <a:off x="281758" y="320735"/>
            <a:ext cx="5744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Neuron Sensitivity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D4ED1B-3C97-019E-2724-EC7C4D97F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58" y="876287"/>
            <a:ext cx="5744137" cy="28479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3E2C7C-8105-9716-B8C9-CEA2333F6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3" y="3758180"/>
            <a:ext cx="5605272" cy="277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430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89D14C-14AD-7133-944C-7EDF3ACD9994}"/>
              </a:ext>
            </a:extLst>
          </p:cNvPr>
          <p:cNvSpPr txBox="1"/>
          <p:nvPr/>
        </p:nvSpPr>
        <p:spPr>
          <a:xfrm>
            <a:off x="281758" y="320735"/>
            <a:ext cx="5744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Ark_order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tuning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1E625E-14BE-18C0-785E-5B8814C0909D}"/>
              </a:ext>
            </a:extLst>
          </p:cNvPr>
          <p:cNvSpPr txBox="1"/>
          <p:nvPr/>
        </p:nvSpPr>
        <p:spPr>
          <a:xfrm>
            <a:off x="773510" y="1628507"/>
            <a:ext cx="777777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Low rank 35, lambda=0, k=4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MSE = 0.000552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AUROC = 0.765</a:t>
            </a:r>
          </a:p>
          <a:p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Full rank, lambda=0, k=4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MSE = 0.000322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AUROC = 0.717</a:t>
            </a:r>
          </a:p>
          <a:p>
            <a:pPr lvl="1"/>
            <a:endParaRPr lang="en-US" sz="12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Low rank 35, lambda=0, k=7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MSE = 0.00928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AUROC = 0.712</a:t>
            </a:r>
          </a:p>
          <a:p>
            <a:pPr lvl="1"/>
            <a:endParaRPr lang="en-US" sz="12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Full rank, lambda=0, k=7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MSE = 0.00252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AUROC = 0.45</a:t>
            </a:r>
          </a:p>
          <a:p>
            <a:pPr lvl="1"/>
            <a:endParaRPr lang="en-US" sz="12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/>
            <a:endParaRPr lang="en-US" sz="12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higher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ark_order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 overfitting???? Try Reg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74485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F856E0-2FBE-B351-A4CA-601EE8886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8" y="1375295"/>
            <a:ext cx="6151089" cy="32304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06D824-97B4-CF72-49CB-796C8EA50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39" y="3055897"/>
            <a:ext cx="6663690" cy="34813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0728AA-A5B9-DA4E-60BE-D9EEA01A5D82}"/>
              </a:ext>
            </a:extLst>
          </p:cNvPr>
          <p:cNvSpPr txBox="1"/>
          <p:nvPr/>
        </p:nvSpPr>
        <p:spPr>
          <a:xfrm>
            <a:off x="281758" y="320735"/>
            <a:ext cx="5744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Ark_order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tuning</a:t>
            </a:r>
          </a:p>
        </p:txBody>
      </p:sp>
    </p:spTree>
    <p:extLst>
      <p:ext uri="{BB962C8B-B14F-4D97-AF65-F5344CB8AC3E}">
        <p14:creationId xmlns:p14="http://schemas.microsoft.com/office/powerpoint/2010/main" val="1916644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10728AA-A5B9-DA4E-60BE-D9EEA01A5D82}"/>
              </a:ext>
            </a:extLst>
          </p:cNvPr>
          <p:cNvSpPr txBox="1"/>
          <p:nvPr/>
        </p:nvSpPr>
        <p:spPr>
          <a:xfrm>
            <a:off x="281758" y="320735"/>
            <a:ext cx="5744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Ark_order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tuning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F776B8-7240-2BC3-F09A-62A330F03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822" y="1688390"/>
            <a:ext cx="5774540" cy="302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503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SNAIL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Photostim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Project Update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9/11/24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1CDAA9-F86C-8848-C832-4245468DA874}"/>
              </a:ext>
            </a:extLst>
          </p:cNvPr>
          <p:cNvSpPr txBox="1"/>
          <p:nvPr/>
        </p:nvSpPr>
        <p:spPr>
          <a:xfrm>
            <a:off x="3249637" y="3821580"/>
            <a:ext cx="215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Andrew Jeon</a:t>
            </a:r>
          </a:p>
        </p:txBody>
      </p:sp>
    </p:spTree>
    <p:extLst>
      <p:ext uri="{BB962C8B-B14F-4D97-AF65-F5344CB8AC3E}">
        <p14:creationId xmlns:p14="http://schemas.microsoft.com/office/powerpoint/2010/main" val="2290871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004B4E-504F-52C4-8B57-9E2829783A64}"/>
              </a:ext>
            </a:extLst>
          </p:cNvPr>
          <p:cNvSpPr txBox="1"/>
          <p:nvPr/>
        </p:nvSpPr>
        <p:spPr>
          <a:xfrm>
            <a:off x="281758" y="320735"/>
            <a:ext cx="5744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Discussion Threads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E49167-2407-D0E6-6F4E-E3447C3F3F0A}"/>
              </a:ext>
            </a:extLst>
          </p:cNvPr>
          <p:cNvSpPr txBox="1"/>
          <p:nvPr/>
        </p:nvSpPr>
        <p:spPr>
          <a:xfrm>
            <a:off x="202735" y="786078"/>
            <a:ext cx="797274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Done/ongoing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Try Learning rates 1 or 2 order of magnitudes smaller for regularization to address the massive MSEs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Try empty initialization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Closed-Form Ridge Regression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Closed-Form solutions can give us assurance that the torch model should EVENTUALLY converge to this solution with enough epochs and assuming all other hyperparameters are tuned correctly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Make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Repo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Effect of Regularization on Low Rank models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Next Steps/Direction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Q: If we took the closed-form W/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Ahat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which is (502,4017), did SVD with rank 502 on it, then initialized the torch model with that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SVD’d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init_value I expect and want it to stay at the closed-form, It bothers me that it doesn’t.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Take Reduced Rank Ridge Regression closed-form solutions, initialize torch model with that and confirm that the model stays at that closed-form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Nested cross validation loop – Joe Lambda first, then rank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Closed form training MSE for reduced ridge regression, compare to torch reg train loss, torch reg train loss should eventually arrive to this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Gradient Descent w/ rollout vs current approach (predict 4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x_next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instead of 1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x_next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679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A72ACA-1126-A591-65FB-6F516617AA73}"/>
              </a:ext>
            </a:extLst>
          </p:cNvPr>
          <p:cNvSpPr txBox="1"/>
          <p:nvPr/>
        </p:nvSpPr>
        <p:spPr>
          <a:xfrm>
            <a:off x="281758" y="320735"/>
            <a:ext cx="5744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Extremely high MSE?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D84AF-CA8E-9821-FA4D-447C01A75360}"/>
              </a:ext>
            </a:extLst>
          </p:cNvPr>
          <p:cNvSpPr txBox="1"/>
          <p:nvPr/>
        </p:nvSpPr>
        <p:spPr>
          <a:xfrm>
            <a:off x="205483" y="3450429"/>
            <a:ext cx="85275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Decreasing the learning rate resulted in </a:t>
            </a:r>
            <a:r>
              <a:rPr lang="en-US" sz="11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reasonable MSE’s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for the full rank model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6F204C-E7DA-3581-A7A6-9033F6E02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83" y="1064284"/>
            <a:ext cx="8671389" cy="1951063"/>
          </a:xfrm>
          <a:prstGeom prst="rect">
            <a:avLst/>
          </a:prstGeom>
        </p:spPr>
      </p:pic>
      <p:pic>
        <p:nvPicPr>
          <p:cNvPr id="12" name="Picture 11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1E23B024-DC94-C26F-21A9-14C0754BA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3" y="4147121"/>
            <a:ext cx="4189038" cy="20945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718EE6-FC52-F681-1DCB-6FDB6C5C92E1}"/>
              </a:ext>
            </a:extLst>
          </p:cNvPr>
          <p:cNvSpPr txBox="1"/>
          <p:nvPr/>
        </p:nvSpPr>
        <p:spPr>
          <a:xfrm>
            <a:off x="1160979" y="3772831"/>
            <a:ext cx="23219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low_rank_502_epochs_100_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lr_0.001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_lambda_0.001_k_4_init_value_on_losses</a:t>
            </a:r>
          </a:p>
        </p:txBody>
      </p:sp>
      <p:pic>
        <p:nvPicPr>
          <p:cNvPr id="15" name="Picture 14" descr="A graph with a green line&#10;&#10;Description automatically generated">
            <a:extLst>
              <a:ext uri="{FF2B5EF4-FFF2-40B4-BE49-F238E27FC236}">
                <a16:creationId xmlns:a16="http://schemas.microsoft.com/office/drawing/2014/main" id="{88659801-74F9-ED59-F069-8493F9924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0173" y="4109752"/>
            <a:ext cx="4263775" cy="21318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8B14DE4-E361-6B8D-A1CD-47777FF41A2D}"/>
              </a:ext>
            </a:extLst>
          </p:cNvPr>
          <p:cNvSpPr txBox="1"/>
          <p:nvPr/>
        </p:nvSpPr>
        <p:spPr>
          <a:xfrm>
            <a:off x="5109985" y="3789741"/>
            <a:ext cx="240415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low_rank_502_epochs_100_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lr_0.0001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_lambda_0.001_k_4_init_value_on_losses</a:t>
            </a:r>
          </a:p>
        </p:txBody>
      </p:sp>
    </p:spTree>
    <p:extLst>
      <p:ext uri="{BB962C8B-B14F-4D97-AF65-F5344CB8AC3E}">
        <p14:creationId xmlns:p14="http://schemas.microsoft.com/office/powerpoint/2010/main" val="3188592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BC176F3-1054-A552-E343-12B1AFF89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15" y="3605714"/>
            <a:ext cx="7445385" cy="2110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F45D4D-09F0-920B-2ED0-89E31226C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44" y="1674387"/>
            <a:ext cx="7304926" cy="193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941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7CBF21-DD14-664C-D524-6FF0C80C9A10}"/>
              </a:ext>
            </a:extLst>
          </p:cNvPr>
          <p:cNvSpPr txBox="1"/>
          <p:nvPr/>
        </p:nvSpPr>
        <p:spPr>
          <a:xfrm>
            <a:off x="281758" y="320735"/>
            <a:ext cx="6108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Difference between Val and “Test” MSE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6D1283-C626-9250-F5B5-541F038ABBD0}"/>
              </a:ext>
            </a:extLst>
          </p:cNvPr>
          <p:cNvSpPr txBox="1"/>
          <p:nvPr/>
        </p:nvSpPr>
        <p:spPr>
          <a:xfrm>
            <a:off x="547240" y="1556216"/>
            <a:ext cx="64211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12 batches of ~2000 for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train_loader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4 batches of ~2000 for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val_loader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24000~22968 training t’s, 8000~6340 test t’s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Test and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MSE uses same t’s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Train MSE is the average of 12 batches of 2000 error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Val MSE is the average MSE of 4 batches of 2000 error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Test MSE is the average MSE of 82 segments of uninterrupted test t’s which vary in length (66, 109 etc.)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1C64A3-3F28-BC95-961B-D076AE405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264" y="3171562"/>
            <a:ext cx="3305172" cy="21983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808A60-7522-62E8-7078-C563B6A6A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84" y="3156654"/>
            <a:ext cx="4749173" cy="186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04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7CBF21-DD14-664C-D524-6FF0C80C9A10}"/>
              </a:ext>
            </a:extLst>
          </p:cNvPr>
          <p:cNvSpPr txBox="1"/>
          <p:nvPr/>
        </p:nvSpPr>
        <p:spPr>
          <a:xfrm>
            <a:off x="281758" y="320735"/>
            <a:ext cx="5744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Test MSE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25EA88-E729-4826-C6DD-90454AE0ABB8}"/>
              </a:ext>
            </a:extLst>
          </p:cNvPr>
          <p:cNvSpPr txBox="1"/>
          <p:nvPr/>
        </p:nvSpPr>
        <p:spPr>
          <a:xfrm>
            <a:off x="428978" y="1670756"/>
            <a:ext cx="8195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Ahat_gd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(4017, 502)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2AE731-628D-1D92-1AF6-9E890D96A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58" y="1960499"/>
            <a:ext cx="1305107" cy="20005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1CEF0A-5CF1-2A66-A89F-2546DACEB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733" y="648973"/>
            <a:ext cx="5358829" cy="33120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6D1283-C626-9250-F5B5-541F038ABBD0}"/>
              </a:ext>
            </a:extLst>
          </p:cNvPr>
          <p:cNvSpPr txBox="1"/>
          <p:nvPr/>
        </p:nvSpPr>
        <p:spPr>
          <a:xfrm>
            <a:off x="145604" y="4066232"/>
            <a:ext cx="34400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Test MSE is basically average MSE of 82 segments of test t’s each of which are different lengths (66, 109, etc.)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D7F8F6-8501-E802-2862-BACB962CB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844" y="4138376"/>
            <a:ext cx="4347986" cy="239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77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4F3398-D15C-AA33-74F9-E7C2E576A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1990" y="1323233"/>
            <a:ext cx="10012902" cy="421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51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32666F-91C8-1089-C0F9-732EF5BF6D8B}"/>
              </a:ext>
            </a:extLst>
          </p:cNvPr>
          <p:cNvSpPr txBox="1"/>
          <p:nvPr/>
        </p:nvSpPr>
        <p:spPr>
          <a:xfrm>
            <a:off x="281758" y="320735"/>
            <a:ext cx="5744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Empty Initialization</a:t>
            </a:r>
          </a:p>
        </p:txBody>
      </p:sp>
      <p:pic>
        <p:nvPicPr>
          <p:cNvPr id="6" name="Picture 5" descr="A graph with a green line&#10;&#10;Description automatically generated">
            <a:extLst>
              <a:ext uri="{FF2B5EF4-FFF2-40B4-BE49-F238E27FC236}">
                <a16:creationId xmlns:a16="http://schemas.microsoft.com/office/drawing/2014/main" id="{CDB51830-11CE-6DEB-5F2E-AB62E6882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85" y="3478585"/>
            <a:ext cx="3733772" cy="18668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E2F743-CA20-60B0-B831-96BF17271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55" y="2675340"/>
            <a:ext cx="8352890" cy="5760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0FA1C1-2EE2-3941-AB87-DD16BA424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051" y="3623556"/>
            <a:ext cx="5270643" cy="14022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272D6FB-22A3-F078-E2BF-D0D3D95C4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16597" y="2515779"/>
            <a:ext cx="10211971" cy="26025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0EDE64-E061-AA44-1B33-A19D10D45102}"/>
              </a:ext>
            </a:extLst>
          </p:cNvPr>
          <p:cNvSpPr txBox="1"/>
          <p:nvPr/>
        </p:nvSpPr>
        <p:spPr>
          <a:xfrm>
            <a:off x="395554" y="1561672"/>
            <a:ext cx="82390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 expected, empty initialization starts the solution off at a much higher loss, it takes much longer to get to a good solution.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Init_value none 1000 epochs, converges to a </a:t>
            </a:r>
            <a:r>
              <a:rPr lang="en-US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really low MSE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but the </a:t>
            </a:r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AUROC is so low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??? The MSE goes lower than that of the closed-form solution….</a:t>
            </a:r>
          </a:p>
        </p:txBody>
      </p:sp>
    </p:spTree>
    <p:extLst>
      <p:ext uri="{BB962C8B-B14F-4D97-AF65-F5344CB8AC3E}">
        <p14:creationId xmlns:p14="http://schemas.microsoft.com/office/powerpoint/2010/main" val="3343103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10728AA-A5B9-DA4E-60BE-D9EEA01A5D82}"/>
              </a:ext>
            </a:extLst>
          </p:cNvPr>
          <p:cNvSpPr txBox="1"/>
          <p:nvPr/>
        </p:nvSpPr>
        <p:spPr>
          <a:xfrm>
            <a:off x="281758" y="320735"/>
            <a:ext cx="5744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Direction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1BB6BC-ED38-9EDA-14EF-885322024838}"/>
              </a:ext>
            </a:extLst>
          </p:cNvPr>
          <p:cNvSpPr txBox="1"/>
          <p:nvPr/>
        </p:nvSpPr>
        <p:spPr>
          <a:xfrm>
            <a:off x="281758" y="1602544"/>
            <a:ext cx="79727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Take Reduced Rank Ridge Regression closed-form solutions, initialize torch model with that and confirm that the model stays at that closed-form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Nested cross validation loop – Joe Lambda first, then rank</a:t>
            </a:r>
          </a:p>
        </p:txBody>
      </p:sp>
    </p:spTree>
    <p:extLst>
      <p:ext uri="{BB962C8B-B14F-4D97-AF65-F5344CB8AC3E}">
        <p14:creationId xmlns:p14="http://schemas.microsoft.com/office/powerpoint/2010/main" val="3032609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SNAIL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Photostim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Project Update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9/xx/24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1CDAA9-F86C-8848-C832-4245468DA874}"/>
              </a:ext>
            </a:extLst>
          </p:cNvPr>
          <p:cNvSpPr txBox="1"/>
          <p:nvPr/>
        </p:nvSpPr>
        <p:spPr>
          <a:xfrm>
            <a:off x="3249637" y="3821580"/>
            <a:ext cx="215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Andrew Jeon</a:t>
            </a:r>
          </a:p>
        </p:txBody>
      </p:sp>
    </p:spTree>
    <p:extLst>
      <p:ext uri="{BB962C8B-B14F-4D97-AF65-F5344CB8AC3E}">
        <p14:creationId xmlns:p14="http://schemas.microsoft.com/office/powerpoint/2010/main" val="2305293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004B4E-504F-52C4-8B57-9E2829783A64}"/>
              </a:ext>
            </a:extLst>
          </p:cNvPr>
          <p:cNvSpPr txBox="1"/>
          <p:nvPr/>
        </p:nvSpPr>
        <p:spPr>
          <a:xfrm>
            <a:off x="202735" y="185268"/>
            <a:ext cx="5744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E49167-2407-D0E6-6F4E-E3447C3F3F0A}"/>
              </a:ext>
            </a:extLst>
          </p:cNvPr>
          <p:cNvSpPr txBox="1"/>
          <p:nvPr/>
        </p:nvSpPr>
        <p:spPr>
          <a:xfrm>
            <a:off x="281758" y="1508567"/>
            <a:ext cx="79727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Next Steps/Direction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Nested closed-form cross validation loop – Joe Lambda first, then rank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Gradient Descent w/ rollout vs current approach (predict 4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x_next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instead of 1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x_next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Eventually Non-linear models compare, to confirm/reject that GRU doesn’t help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Try evaluating the initialized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SVD’d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matrix of torch model on training MSE and compare to the closed-form reduced ridge regression training MSE, they should be the same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Take Reduced Rank Ridge Regression closed-form solutions, initialize torch model with that and confirm that the model stays at that closed-form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Closed-Form training MSE for Reduced Ridge Regression, compare to torch reg train loss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Do a rough sweep of rank and reg, report the best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Magnitudes of gradients at every step, Loss plots over epochs → use these things to check 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328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88C30E-59D9-5AFD-4154-0E964BD03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" y="0"/>
            <a:ext cx="5082539" cy="26648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252F16-7AD9-B6F2-CC7C-AFD5B31FF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81" y="1332433"/>
            <a:ext cx="5100823" cy="26648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803C8D-5065-44C1-C3C6-9F700979D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81" y="2597168"/>
            <a:ext cx="5210032" cy="273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778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49668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UW Brand">
      <a:dk1>
        <a:srgbClr val="33006F"/>
      </a:dk1>
      <a:lt1>
        <a:srgbClr val="E8D3A2"/>
      </a:lt1>
      <a:dk2>
        <a:srgbClr val="33006F"/>
      </a:dk2>
      <a:lt2>
        <a:srgbClr val="FFFFFF"/>
      </a:lt2>
      <a:accent1>
        <a:srgbClr val="33006F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ustom Design">
  <a:themeElements>
    <a:clrScheme name="4b2e83 1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26005C"/>
      </a:accent5>
      <a:accent6>
        <a:srgbClr val="917B4C"/>
      </a:accent6>
      <a:hlink>
        <a:srgbClr val="26005C"/>
      </a:hlink>
      <a:folHlink>
        <a:srgbClr val="33006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30076</TotalTime>
  <Words>958</Words>
  <Application>Microsoft Office PowerPoint</Application>
  <PresentationFormat>On-screen Show (4:3)</PresentationFormat>
  <Paragraphs>106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Encode Sans Normal Black</vt:lpstr>
      <vt:lpstr>Lucida Grande</vt:lpstr>
      <vt:lpstr>Uni Sans Regular</vt:lpstr>
      <vt:lpstr>Arial</vt:lpstr>
      <vt:lpstr>Courier New</vt:lpstr>
      <vt:lpstr>Open Sans</vt:lpstr>
      <vt:lpstr>Open Sans Light</vt:lpstr>
      <vt:lpstr>Custom Design</vt:lpstr>
      <vt:lpstr>1_Custom Design</vt:lpstr>
      <vt:lpstr>SNAIL Photostim Project Update  8/20/24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SNAIL Photostim Project Update  9/11/24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SNAIL Photostim Project Update  9/xx/24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Alanya Cannon</dc:creator>
  <cp:lastModifiedBy>Andrew Jeon</cp:lastModifiedBy>
  <cp:revision>61</cp:revision>
  <cp:lastPrinted>2016-02-10T20:19:12Z</cp:lastPrinted>
  <dcterms:created xsi:type="dcterms:W3CDTF">2014-10-14T00:51:43Z</dcterms:created>
  <dcterms:modified xsi:type="dcterms:W3CDTF">2025-02-25T22:18:06Z</dcterms:modified>
</cp:coreProperties>
</file>